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3"/>
    <p:sldId id="288" r:id="rId4"/>
    <p:sldId id="275" r:id="rId5"/>
    <p:sldId id="258" r:id="rId6"/>
    <p:sldId id="289" r:id="rId7"/>
    <p:sldId id="257" r:id="rId8"/>
    <p:sldId id="278" r:id="rId9"/>
    <p:sldId id="293" r:id="rId10"/>
    <p:sldId id="292" r:id="rId11"/>
    <p:sldId id="298" r:id="rId12"/>
    <p:sldId id="294" r:id="rId13"/>
    <p:sldId id="291" r:id="rId14"/>
    <p:sldId id="295" r:id="rId15"/>
    <p:sldId id="290" r:id="rId16"/>
    <p:sldId id="297" r:id="rId17"/>
    <p:sldId id="299" r:id="rId18"/>
    <p:sldId id="300" r:id="rId19"/>
    <p:sldId id="301" r:id="rId20"/>
    <p:sldId id="302" r:id="rId21"/>
    <p:sldId id="303" r:id="rId22"/>
    <p:sldId id="304" r:id="rId23"/>
    <p:sldId id="306" r:id="rId24"/>
    <p:sldId id="310" r:id="rId25"/>
    <p:sldId id="277" r:id="rId26"/>
    <p:sldId id="260" r:id="rId27"/>
    <p:sldId id="262" r:id="rId28"/>
    <p:sldId id="263" r:id="rId30"/>
    <p:sldId id="296" r:id="rId31"/>
    <p:sldId id="318" r:id="rId32"/>
    <p:sldId id="266" r:id="rId33"/>
  </p:sldIdLst>
  <p:sldSz cx="9144000" cy="6858000" type="screen4x3"/>
  <p:notesSz cx="6858000" cy="9144000"/>
  <p:defaultTextStyle>
    <a:defPPr>
      <a:defRPr lang="es-E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ITHIN" initials="N"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22C16"/>
    <a:srgbClr val="0C788E"/>
    <a:srgbClr val="025198"/>
    <a:srgbClr val="000099"/>
    <a:srgbClr val="1C1C1C"/>
    <a:srgbClr val="660066"/>
    <a:srgbClr val="000058"/>
    <a:srgbClr val="2E17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1574"/>
    <p:restoredTop sz="94652"/>
  </p:normalViewPr>
  <p:slideViewPr>
    <p:cSldViewPr showGuides="1">
      <p:cViewPr varScale="1">
        <p:scale>
          <a:sx n="73" d="100"/>
          <a:sy n="73" d="100"/>
        </p:scale>
        <p:origin x="-840" y="-90"/>
      </p:cViewPr>
      <p:guideLst>
        <p:guide orient="horz" pos="2150"/>
        <p:guide pos="292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7" Type="http://schemas.openxmlformats.org/officeDocument/2006/relationships/commentAuthors" Target="commentAuthors.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notesMaster" Target="notesMasters/notesMaster1.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9A0DB2DC-4C9A-4742-B13C-FB6460FD3503}" type="slidenum">
              <a:rPr lang="es-ES"/>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9A0DB2DC-4C9A-4742-B13C-FB6460FD3503}" type="slidenum">
              <a:rPr lang="es-ES"/>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9A0DB2DC-4C9A-4742-B13C-FB6460FD3503}" type="slidenum">
              <a:rPr lang="es-ES"/>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504"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54296" y="1600200"/>
            <a:ext cx="4032504"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pPr lvl="0"/>
            <a:endParaRPr lang="es-ES"/>
          </a:p>
        </p:txBody>
      </p:sp>
      <p:sp>
        <p:nvSpPr>
          <p:cNvPr id="6" name="Footer Placeholder 5"/>
          <p:cNvSpPr>
            <a:spLocks noGrp="1"/>
          </p:cNvSpPr>
          <p:nvPr>
            <p:ph type="ftr" sz="quarter" idx="11"/>
          </p:nvPr>
        </p:nvSpPr>
        <p:spPr/>
        <p:txBody>
          <a:bodyPr/>
          <a:lstStyle/>
          <a:p>
            <a:pPr lvl="0"/>
            <a:endParaRPr lang="es-ES"/>
          </a:p>
        </p:txBody>
      </p:sp>
      <p:sp>
        <p:nvSpPr>
          <p:cNvPr id="7" name="Slide Number Placeholder 6"/>
          <p:cNvSpPr>
            <a:spLocks noGrp="1"/>
          </p:cNvSpPr>
          <p:nvPr>
            <p:ph type="sldNum" sz="quarter" idx="12"/>
          </p:nvPr>
        </p:nvSpPr>
        <p:spPr/>
        <p:txBody>
          <a:bodyPr/>
          <a:lstStyle/>
          <a:p>
            <a:pPr lvl="0"/>
            <a:fld id="{9A0DB2DC-4C9A-4742-B13C-FB6460FD3503}" type="slidenum">
              <a:rPr lang="es-ES"/>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29841" y="2505075"/>
            <a:ext cx="3868340"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pPr lvl="0"/>
            <a:endParaRPr lang="es-ES"/>
          </a:p>
        </p:txBody>
      </p:sp>
      <p:sp>
        <p:nvSpPr>
          <p:cNvPr id="8" name="Footer Placeholder 7"/>
          <p:cNvSpPr>
            <a:spLocks noGrp="1"/>
          </p:cNvSpPr>
          <p:nvPr>
            <p:ph type="ftr" sz="quarter" idx="11"/>
          </p:nvPr>
        </p:nvSpPr>
        <p:spPr/>
        <p:txBody>
          <a:bodyPr/>
          <a:lstStyle/>
          <a:p>
            <a:pPr lvl="0"/>
            <a:endParaRPr lang="es-ES"/>
          </a:p>
        </p:txBody>
      </p:sp>
      <p:sp>
        <p:nvSpPr>
          <p:cNvPr id="9" name="Slide Number Placeholder 8"/>
          <p:cNvSpPr>
            <a:spLocks noGrp="1"/>
          </p:cNvSpPr>
          <p:nvPr>
            <p:ph type="sldNum" sz="quarter" idx="12"/>
          </p:nvPr>
        </p:nvSpPr>
        <p:spPr/>
        <p:txBody>
          <a:bodyPr/>
          <a:lstStyle/>
          <a:p>
            <a:pPr lvl="0"/>
            <a:fld id="{9A0DB2DC-4C9A-4742-B13C-FB6460FD3503}" type="slidenum">
              <a:rPr lang="es-ES"/>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lvl="0"/>
            <a:endParaRPr lang="es-ES"/>
          </a:p>
        </p:txBody>
      </p:sp>
      <p:sp>
        <p:nvSpPr>
          <p:cNvPr id="4" name="Footer Placeholder 3"/>
          <p:cNvSpPr>
            <a:spLocks noGrp="1"/>
          </p:cNvSpPr>
          <p:nvPr>
            <p:ph type="ftr" sz="quarter" idx="11"/>
          </p:nvPr>
        </p:nvSpPr>
        <p:spPr/>
        <p:txBody>
          <a:bodyPr/>
          <a:lstStyle/>
          <a:p>
            <a:pPr lvl="0"/>
            <a:endParaRPr lang="es-ES"/>
          </a:p>
        </p:txBody>
      </p:sp>
      <p:sp>
        <p:nvSpPr>
          <p:cNvPr id="5" name="Slide Number Placeholder 4"/>
          <p:cNvSpPr>
            <a:spLocks noGrp="1"/>
          </p:cNvSpPr>
          <p:nvPr>
            <p:ph type="sldNum" sz="quarter" idx="12"/>
          </p:nvPr>
        </p:nvSpPr>
        <p:spPr/>
        <p:txBody>
          <a:bodyPr/>
          <a:lstStyle/>
          <a:p>
            <a:pPr lvl="0"/>
            <a:fld id="{9A0DB2DC-4C9A-4742-B13C-FB6460FD3503}" type="slidenum">
              <a:rPr lang="es-ES"/>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lvl="0"/>
            <a:endParaRPr lang="es-ES"/>
          </a:p>
        </p:txBody>
      </p:sp>
      <p:sp>
        <p:nvSpPr>
          <p:cNvPr id="3" name="Footer Placeholder 2"/>
          <p:cNvSpPr>
            <a:spLocks noGrp="1"/>
          </p:cNvSpPr>
          <p:nvPr>
            <p:ph type="ftr" sz="quarter" idx="11"/>
          </p:nvPr>
        </p:nvSpPr>
        <p:spPr/>
        <p:txBody>
          <a:bodyPr/>
          <a:lstStyle/>
          <a:p>
            <a:pPr lvl="0"/>
            <a:endParaRPr lang="es-ES"/>
          </a:p>
        </p:txBody>
      </p:sp>
      <p:sp>
        <p:nvSpPr>
          <p:cNvPr id="4" name="Slide Number Placeholder 3"/>
          <p:cNvSpPr>
            <a:spLocks noGrp="1"/>
          </p:cNvSpPr>
          <p:nvPr>
            <p:ph type="sldNum" sz="quarter" idx="12"/>
          </p:nvPr>
        </p:nvSpPr>
        <p:spPr/>
        <p:txBody>
          <a:bodyPr/>
          <a:lstStyle/>
          <a:p>
            <a:pPr lvl="0"/>
            <a:fld id="{9A0DB2DC-4C9A-4742-B13C-FB6460FD3503}" type="slidenum">
              <a:rPr lang="es-ES"/>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lvl="0"/>
            <a:endParaRPr lang="es-ES"/>
          </a:p>
        </p:txBody>
      </p:sp>
      <p:sp>
        <p:nvSpPr>
          <p:cNvPr id="6" name="Footer Placeholder 5"/>
          <p:cNvSpPr>
            <a:spLocks noGrp="1"/>
          </p:cNvSpPr>
          <p:nvPr>
            <p:ph type="ftr" sz="quarter" idx="11"/>
          </p:nvPr>
        </p:nvSpPr>
        <p:spPr/>
        <p:txBody>
          <a:bodyPr/>
          <a:lstStyle/>
          <a:p>
            <a:pPr lvl="0"/>
            <a:endParaRPr lang="es-ES"/>
          </a:p>
        </p:txBody>
      </p:sp>
      <p:sp>
        <p:nvSpPr>
          <p:cNvPr id="7" name="Slide Number Placeholder 6"/>
          <p:cNvSpPr>
            <a:spLocks noGrp="1"/>
          </p:cNvSpPr>
          <p:nvPr>
            <p:ph type="sldNum" sz="quarter" idx="12"/>
          </p:nvPr>
        </p:nvSpPr>
        <p:spPr/>
        <p:txBody>
          <a:bodyPr/>
          <a:lstStyle/>
          <a:p>
            <a:pPr lvl="0"/>
            <a:fld id="{9A0DB2DC-4C9A-4742-B13C-FB6460FD3503}" type="slidenum">
              <a:rPr lang="es-ES"/>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lvl="0"/>
            <a:endParaRPr lang="es-ES"/>
          </a:p>
        </p:txBody>
      </p:sp>
      <p:sp>
        <p:nvSpPr>
          <p:cNvPr id="6" name="Footer Placeholder 5"/>
          <p:cNvSpPr>
            <a:spLocks noGrp="1"/>
          </p:cNvSpPr>
          <p:nvPr>
            <p:ph type="ftr" sz="quarter" idx="11"/>
          </p:nvPr>
        </p:nvSpPr>
        <p:spPr/>
        <p:txBody>
          <a:bodyPr/>
          <a:lstStyle/>
          <a:p>
            <a:pPr lvl="0"/>
            <a:endParaRPr lang="es-ES"/>
          </a:p>
        </p:txBody>
      </p:sp>
      <p:sp>
        <p:nvSpPr>
          <p:cNvPr id="7" name="Slide Number Placeholder 6"/>
          <p:cNvSpPr>
            <a:spLocks noGrp="1"/>
          </p:cNvSpPr>
          <p:nvPr>
            <p:ph type="sldNum" sz="quarter" idx="12"/>
          </p:nvPr>
        </p:nvSpPr>
        <p:spPr/>
        <p:txBody>
          <a:bodyPr/>
          <a:lstStyle/>
          <a:p>
            <a:pPr lvl="0"/>
            <a:fld id="{9A0DB2DC-4C9A-4742-B13C-FB6460FD3503}" type="slidenum">
              <a:rPr lang="es-ES"/>
            </a:fld>
            <a:endParaRPr lang="es-E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9A0DB2DC-4C9A-4742-B13C-FB6460FD3503}" type="slidenum">
              <a:rPr lang="es-ES"/>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5293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lvl="0"/>
            <a:endParaRPr lang="es-ES"/>
          </a:p>
        </p:txBody>
      </p:sp>
      <p:sp>
        <p:nvSpPr>
          <p:cNvPr id="5" name="Footer Placeholder 4"/>
          <p:cNvSpPr>
            <a:spLocks noGrp="1"/>
          </p:cNvSpPr>
          <p:nvPr>
            <p:ph type="ftr" sz="quarter" idx="11"/>
          </p:nvPr>
        </p:nvSpPr>
        <p:spPr/>
        <p:txBody>
          <a:bodyPr/>
          <a:lstStyle/>
          <a:p>
            <a:pPr lvl="0"/>
            <a:endParaRPr lang="es-ES"/>
          </a:p>
        </p:txBody>
      </p:sp>
      <p:sp>
        <p:nvSpPr>
          <p:cNvPr id="6" name="Slide Number Placeholder 5"/>
          <p:cNvSpPr>
            <a:spLocks noGrp="1"/>
          </p:cNvSpPr>
          <p:nvPr>
            <p:ph type="sldNum" sz="quarter" idx="12"/>
          </p:nvPr>
        </p:nvSpPr>
        <p:spPr/>
        <p:txBody>
          <a:bodyPr/>
          <a:lstStyle/>
          <a:p>
            <a:pPr lvl="0"/>
            <a:fld id="{9A0DB2DC-4C9A-4742-B13C-FB6460FD3503}" type="slidenum">
              <a:rPr lang="es-ES"/>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2"/>
          <a:stretch>
            <a:fillRect/>
          </a:stretch>
        </a:blipFill>
        <a:effectLst/>
      </p:bgPr>
    </p:bg>
    <p:spTree>
      <p:nvGrpSpPr>
        <p:cNvPr id="1" name=""/>
        <p:cNvGrpSpPr/>
        <p:nvPr/>
      </p:nvGrpSpPr>
      <p:grpSpPr/>
      <p:sp>
        <p:nvSpPr>
          <p:cNvPr id="1026" name="Title 1025"/>
          <p:cNvSpPr>
            <a:spLocks noGrp="1"/>
          </p:cNvSpPr>
          <p:nvPr>
            <p:ph type="title"/>
          </p:nvPr>
        </p:nvSpPr>
        <p:spPr>
          <a:xfrm>
            <a:off x="457200" y="274638"/>
            <a:ext cx="8229600" cy="1143000"/>
          </a:xfrm>
          <a:prstGeom prst="rect">
            <a:avLst/>
          </a:prstGeom>
          <a:noFill/>
          <a:ln w="9525">
            <a:noFill/>
          </a:ln>
        </p:spPr>
        <p:txBody>
          <a:bodyPr anchor="ctr" anchorCtr="0"/>
          <a:p>
            <a:pPr lvl="0"/>
            <a:r>
              <a:rPr dirty="0"/>
              <a:t>Haga clic para cambiar el estilo de título	</a:t>
            </a:r>
            <a:endParaRPr dirty="0"/>
          </a:p>
        </p:txBody>
      </p:sp>
      <p:sp>
        <p:nvSpPr>
          <p:cNvPr id="1027" name="Text Placeholder 1026"/>
          <p:cNvSpPr>
            <a:spLocks noGrp="1"/>
          </p:cNvSpPr>
          <p:nvPr>
            <p:ph type="body" idx="1"/>
          </p:nvPr>
        </p:nvSpPr>
        <p:spPr>
          <a:xfrm>
            <a:off x="457200" y="1600200"/>
            <a:ext cx="8229600" cy="4525963"/>
          </a:xfrm>
          <a:prstGeom prst="rect">
            <a:avLst/>
          </a:prstGeom>
          <a:noFill/>
          <a:ln w="9525">
            <a:noFill/>
          </a:ln>
        </p:spPr>
        <p:txBody>
          <a:bodyPr/>
          <a:p>
            <a:pPr lvl="0"/>
            <a:r>
              <a:rPr dirty="0"/>
              <a:t>Haga clic para modificar el estilo de texto del patrón</a:t>
            </a:r>
            <a:endParaRPr dirty="0"/>
          </a:p>
          <a:p>
            <a:pPr lvl="1"/>
            <a:r>
              <a:rPr dirty="0"/>
              <a:t>Segundo nivel</a:t>
            </a:r>
            <a:endParaRPr dirty="0"/>
          </a:p>
          <a:p>
            <a:pPr lvl="2"/>
            <a:r>
              <a:rPr dirty="0"/>
              <a:t>Tercer nivel</a:t>
            </a:r>
            <a:endParaRPr dirty="0"/>
          </a:p>
          <a:p>
            <a:pPr lvl="3"/>
            <a:r>
              <a:rPr dirty="0"/>
              <a:t>Cuarto nivel</a:t>
            </a:r>
            <a:endParaRPr dirty="0"/>
          </a:p>
          <a:p>
            <a:pPr lvl="4"/>
            <a:r>
              <a:rPr dirty="0"/>
              <a:t>Quinto nivel</a:t>
            </a:r>
            <a:endParaRPr dirty="0"/>
          </a:p>
        </p:txBody>
      </p:sp>
      <p:sp>
        <p:nvSpPr>
          <p:cNvPr id="1028" name="Date Placeholder 1027"/>
          <p:cNvSpPr>
            <a:spLocks noGrp="1"/>
          </p:cNvSpPr>
          <p:nvPr>
            <p:ph type="dt" sz="half" idx="2"/>
          </p:nvPr>
        </p:nvSpPr>
        <p:spPr>
          <a:xfrm>
            <a:off x="457200" y="6245225"/>
            <a:ext cx="2133600" cy="476250"/>
          </a:xfrm>
          <a:prstGeom prst="rect">
            <a:avLst/>
          </a:prstGeom>
          <a:noFill/>
          <a:ln w="9525">
            <a:noFill/>
          </a:ln>
        </p:spPr>
        <p:txBody>
          <a:bodyPr/>
          <a:lstStyle>
            <a:lvl1pPr>
              <a:defRPr sz="1400"/>
            </a:lvl1pPr>
          </a:lstStyle>
          <a:p>
            <a:pPr lvl="0"/>
            <a:endParaRPr lang="es-ES"/>
          </a:p>
        </p:txBody>
      </p:sp>
      <p:sp>
        <p:nvSpPr>
          <p:cNvPr id="1029" name="Footer Placeholder 1028"/>
          <p:cNvSpPr>
            <a:spLocks noGrp="1"/>
          </p:cNvSpPr>
          <p:nvPr>
            <p:ph type="ftr" sz="quarter" idx="3"/>
          </p:nvPr>
        </p:nvSpPr>
        <p:spPr>
          <a:xfrm>
            <a:off x="3124200" y="6245225"/>
            <a:ext cx="2895600" cy="476250"/>
          </a:xfrm>
          <a:prstGeom prst="rect">
            <a:avLst/>
          </a:prstGeom>
          <a:noFill/>
          <a:ln w="9525">
            <a:noFill/>
          </a:ln>
        </p:spPr>
        <p:txBody>
          <a:bodyPr/>
          <a:lstStyle>
            <a:lvl1pPr algn="ctr">
              <a:defRPr sz="1400"/>
            </a:lvl1pPr>
          </a:lstStyle>
          <a:p>
            <a:pPr lvl="0"/>
            <a:endParaRPr lang="es-ES"/>
          </a:p>
        </p:txBody>
      </p:sp>
      <p:sp>
        <p:nvSpPr>
          <p:cNvPr id="1030" name="Slide Number Placeholder 1029"/>
          <p:cNvSpPr>
            <a:spLocks noGrp="1"/>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a:fld id="{9A0DB2DC-4C9A-4742-B13C-FB6460FD3503}" type="slidenum">
              <a:rPr lang="es-ES"/>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slide" Target="slide6.xml"/><Relationship Id="rId1"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4.jpe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7.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jpe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26.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image" Target="../media/image12.png"/><Relationship Id="rId3" Type="http://schemas.microsoft.com/office/2007/relationships/media" Target="file:///C:\Users\nithi\OneDrive\Desktop\MY%20PROJECTS\Login%20-%20Brave%202022-09-30%2000-53-02.mp4" TargetMode="External"/><Relationship Id="rId2" Type="http://schemas.openxmlformats.org/officeDocument/2006/relationships/video" Target="file:///C:\Users\nithi\OneDrive\Desktop\MY%20PROJECTS\Login%20-%20Brave%202022-09-30%2000-53-02.mp4" TargetMode="External"/><Relationship Id="rId1" Type="http://schemas.openxmlformats.org/officeDocument/2006/relationships/image" Target="../media/image1.jpe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microsoft.com/office/2007/relationships/media" Target="file:///C:\Users\nithi\OneDrive\Desktop\MY%20PROJECTS\Security%20-%20Brave%202022-09-30%2021-24-18.mp4" TargetMode="External"/><Relationship Id="rId1" Type="http://schemas.openxmlformats.org/officeDocument/2006/relationships/video" Target="file:///C:\Users\nithi\OneDrive\Desktop\MY%20PROJECTS\Security%20-%20Brave%202022-09-30%2021-24-18.mp4"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sp>
        <p:nvSpPr>
          <p:cNvPr id="2158" name="Title 2157"/>
          <p:cNvSpPr>
            <a:spLocks noGrp="1"/>
          </p:cNvSpPr>
          <p:nvPr>
            <p:ph type="ctrTitle"/>
          </p:nvPr>
        </p:nvSpPr>
        <p:spPr>
          <a:xfrm>
            <a:off x="107315" y="6741795"/>
            <a:ext cx="85725" cy="96520"/>
          </a:xfrm>
        </p:spPr>
        <p:style>
          <a:lnRef idx="2">
            <a:schemeClr val="dk1"/>
          </a:lnRef>
          <a:fillRef idx="1">
            <a:schemeClr val="lt1"/>
          </a:fillRef>
          <a:effectRef idx="0">
            <a:schemeClr val="dk1"/>
          </a:effectRef>
          <a:fontRef idx="minor">
            <a:schemeClr val="dk1"/>
          </a:fontRef>
        </p:style>
        <p:txBody>
          <a:bodyPr anchor="ctr" anchorCtr="0"/>
          <a:p>
            <a:pPr algn="ctr" defTabSz="914400">
              <a:buClrTx/>
              <a:buSzTx/>
              <a:buFontTx/>
              <a:buNone/>
            </a:pPr>
            <a:r>
              <a:rPr lang="en-IN" sz="2400" b="1" i="1" kern="1200" baseline="0">
                <a:solidFill>
                  <a:schemeClr val="tx1"/>
                </a:solidFill>
                <a:latin typeface="Arial" panose="020B0604020202020204" pitchFamily="34" charset="0"/>
                <a:ea typeface="Arial" panose="020B0604020202020204" pitchFamily="34" charset="0"/>
              </a:rPr>
              <a:t>   </a:t>
            </a:r>
            <a:endParaRPr lang="en-IN" sz="2400" b="1" i="1" kern="1200" baseline="0">
              <a:solidFill>
                <a:schemeClr val="tx1"/>
              </a:solidFill>
              <a:latin typeface="Arial" panose="020B0604020202020204" pitchFamily="34" charset="0"/>
              <a:ea typeface="Arial" panose="020B0604020202020204" pitchFamily="34" charset="0"/>
            </a:endParaRPr>
          </a:p>
        </p:txBody>
      </p:sp>
      <p:sp>
        <p:nvSpPr>
          <p:cNvPr id="2170" name="Rectangles 2169"/>
          <p:cNvSpPr/>
          <p:nvPr/>
        </p:nvSpPr>
        <p:spPr>
          <a:xfrm>
            <a:off x="5003800" y="6021388"/>
            <a:ext cx="3960813" cy="503237"/>
          </a:xfrm>
          <a:prstGeom prst="rect">
            <a:avLst/>
          </a:prstGeom>
          <a:noFill/>
          <a:ln w="9525">
            <a:noFill/>
          </a:ln>
        </p:spPr>
        <p:txBody>
          <a:bodyPr anchor="ctr" anchorCtr="0"/>
          <a:lstStyle>
            <a:lvl1pPr marL="0" lvl="0" indent="0" algn="ctr" defTabSz="914400" rtl="0" eaLnBrk="1" fontAlgn="base" latinLnBrk="0" hangingPunct="1">
              <a:lnSpc>
                <a:spcPct val="100000"/>
              </a:lnSpc>
              <a:spcBef>
                <a:spcPct val="0"/>
              </a:spcBef>
              <a:spcAft>
                <a:spcPct val="0"/>
              </a:spcAft>
              <a:buClrTx/>
              <a:buSzTx/>
              <a:buFontTx/>
              <a:buNone/>
              <a:defRPr sz="4400" u="none" kern="1200" baseline="0">
                <a:solidFill>
                  <a:schemeClr val="tx2"/>
                </a:solidFill>
                <a:latin typeface="Arial" panose="020B0604020202020204" pitchFamily="34" charset="0"/>
                <a:ea typeface="Arial" panose="020B0604020202020204" pitchFamily="34" charset="0"/>
              </a:defRPr>
            </a:lvl1pPr>
          </a:lstStyle>
          <a:p>
            <a:pPr lvl="0" algn="r"/>
            <a:endParaRPr lang="en-IN" sz="1800" b="1">
              <a:solidFill>
                <a:schemeClr val="tx1"/>
              </a:solidFill>
            </a:endParaRPr>
          </a:p>
        </p:txBody>
      </p:sp>
      <p:sp>
        <p:nvSpPr>
          <p:cNvPr id="3" name="Text Box 2"/>
          <p:cNvSpPr txBox="1"/>
          <p:nvPr/>
        </p:nvSpPr>
        <p:spPr>
          <a:xfrm>
            <a:off x="4427855" y="5589270"/>
            <a:ext cx="4587240" cy="1076325"/>
          </a:xfrm>
          <a:prstGeom prst="rect">
            <a:avLst/>
          </a:prstGeom>
          <a:noFill/>
        </p:spPr>
        <p:txBody>
          <a:bodyPr wrap="square" rtlCol="0">
            <a:spAutoFit/>
          </a:bodyPr>
          <a:p>
            <a:r>
              <a:rPr lang="en-IN" sz="2800" b="1" i="1">
                <a:sym typeface="+mn-ea"/>
              </a:rPr>
              <a:t>Li-Fi SECURITY SYSTEM</a:t>
            </a:r>
            <a:r>
              <a:rPr lang="en-IN" altLang="en-US" sz="2800" b="1" i="1">
                <a:solidFill>
                  <a:schemeClr val="tx1"/>
                </a:solidFill>
              </a:rPr>
              <a:t>                  </a:t>
            </a:r>
            <a:r>
              <a:rPr lang="en-IN" altLang="en-US" sz="1400" b="1" i="1">
                <a:solidFill>
                  <a:schemeClr val="tx1"/>
                </a:solidFill>
              </a:rPr>
              <a:t>here, Security Never Sleeps</a:t>
            </a:r>
            <a:r>
              <a:rPr lang="en-IN" altLang="en-US" sz="1800" b="1" i="1">
                <a:solidFill>
                  <a:schemeClr val="accent2">
                    <a:lumMod val="75000"/>
                  </a:schemeClr>
                </a:solidFill>
              </a:rPr>
              <a:t>.....</a:t>
            </a:r>
            <a:endParaRPr lang="en-IN" altLang="en-US" sz="1800" b="1" i="1">
              <a:solidFill>
                <a:schemeClr val="accent2">
                  <a:lumMod val="75000"/>
                </a:schemeClr>
              </a:solidFill>
            </a:endParaRPr>
          </a:p>
          <a:p>
            <a:r>
              <a:rPr lang="en-IN" altLang="en-US" sz="1800" b="1" i="1">
                <a:solidFill>
                  <a:schemeClr val="accent2">
                    <a:lumMod val="75000"/>
                  </a:schemeClr>
                </a:solidFill>
              </a:rPr>
              <a:t>            </a:t>
            </a:r>
            <a:endParaRPr lang="en-IN" altLang="en-US" sz="1800" b="1" i="1">
              <a:solidFill>
                <a:schemeClr val="accent2">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Table of Contents</a:t>
            </a:r>
            <a:endParaRPr lang="en-IN" altLang="en-US"/>
          </a:p>
        </p:txBody>
      </p:sp>
      <p:sp>
        <p:nvSpPr>
          <p:cNvPr id="3" name="Content Placeholder 2"/>
          <p:cNvSpPr>
            <a:spLocks noGrp="1"/>
          </p:cNvSpPr>
          <p:nvPr>
            <p:ph idx="1"/>
          </p:nvPr>
        </p:nvSpPr>
        <p:spPr>
          <a:xfrm>
            <a:off x="457200" y="1600200"/>
            <a:ext cx="3771900" cy="4526280"/>
          </a:xfrm>
        </p:spPr>
        <p:txBody>
          <a:bodyPr/>
          <a:p>
            <a:endParaRPr lang="en-IN" altLang="en-US"/>
          </a:p>
          <a:p>
            <a:pPr>
              <a:buFont typeface="Wingdings" panose="05000000000000000000" charset="0"/>
              <a:buChar char="v"/>
            </a:pPr>
            <a:r>
              <a:rPr lang="en-IN" altLang="en-US"/>
              <a:t>Abstract</a:t>
            </a:r>
            <a:endParaRPr lang="en-IN" altLang="en-US"/>
          </a:p>
          <a:p>
            <a:pPr>
              <a:buFont typeface="Wingdings" panose="05000000000000000000" charset="0"/>
              <a:buChar char="v"/>
            </a:pPr>
            <a:r>
              <a:rPr lang="en-IN" altLang="en-US"/>
              <a:t>Apparatus</a:t>
            </a:r>
            <a:endParaRPr lang="en-IN" altLang="en-US"/>
          </a:p>
          <a:p>
            <a:pPr>
              <a:buFont typeface="Wingdings" panose="05000000000000000000" charset="0"/>
              <a:buChar char="v"/>
            </a:pPr>
            <a:r>
              <a:rPr lang="en-IN" altLang="en-US"/>
              <a:t>Introduction</a:t>
            </a:r>
            <a:endParaRPr lang="en-IN" altLang="en-US"/>
          </a:p>
          <a:p>
            <a:pPr>
              <a:buFont typeface="Wingdings" panose="05000000000000000000" charset="0"/>
              <a:buChar char="v"/>
            </a:pPr>
            <a:r>
              <a:rPr lang="en-IN" altLang="en-US"/>
              <a:t>Why Li-Fi?</a:t>
            </a:r>
            <a:endParaRPr lang="en-IN" altLang="en-US"/>
          </a:p>
          <a:p>
            <a:pPr>
              <a:buFont typeface="Wingdings" panose="05000000000000000000" charset="0"/>
              <a:buChar char="v"/>
            </a:pPr>
            <a:r>
              <a:rPr lang="en-IN" altLang="en-US"/>
              <a:t>Methodology</a:t>
            </a:r>
            <a:endParaRPr lang="en-IN" altLang="en-US"/>
          </a:p>
          <a:p>
            <a:pPr>
              <a:buFont typeface="Wingdings" panose="05000000000000000000" charset="0"/>
              <a:buChar char="v"/>
            </a:pPr>
            <a:r>
              <a:rPr lang="en-IN" altLang="en-US"/>
              <a:t>Misconceptions</a:t>
            </a:r>
            <a:endParaRPr lang="en-IN" altLang="en-US"/>
          </a:p>
          <a:p>
            <a:pPr>
              <a:buFont typeface="Wingdings" panose="05000000000000000000" charset="0"/>
              <a:buChar char="v"/>
            </a:pPr>
            <a:r>
              <a:rPr lang="en-IN" altLang="en-US"/>
              <a:t>Limitations                                         </a:t>
            </a:r>
            <a:endParaRPr lang="en-IN" altLang="en-US"/>
          </a:p>
        </p:txBody>
      </p:sp>
      <p:sp>
        <p:nvSpPr>
          <p:cNvPr id="4" name="Text Box 3"/>
          <p:cNvSpPr txBox="1"/>
          <p:nvPr/>
        </p:nvSpPr>
        <p:spPr>
          <a:xfrm>
            <a:off x="5507990" y="1556385"/>
            <a:ext cx="2878455" cy="5104765"/>
          </a:xfrm>
          <a:prstGeom prst="rect">
            <a:avLst/>
          </a:prstGeom>
          <a:noFill/>
        </p:spPr>
        <p:txBody>
          <a:bodyPr wrap="square" rtlCol="0">
            <a:spAutoFit/>
          </a:bodyPr>
          <a:p>
            <a:pPr algn="ctr">
              <a:lnSpc>
                <a:spcPct val="110000"/>
              </a:lnSpc>
            </a:pPr>
            <a:endParaRPr lang="en-IN" altLang="en-US" sz="3200">
              <a:sym typeface="+mn-ea"/>
            </a:endParaRPr>
          </a:p>
          <a:p>
            <a:pPr algn="ctr">
              <a:lnSpc>
                <a:spcPct val="120000"/>
              </a:lnSpc>
            </a:pPr>
            <a:r>
              <a:rPr lang="en-IN" altLang="en-US" sz="3200">
                <a:sym typeface="+mn-ea"/>
                <a:hlinkClick r:id="rId1" action="ppaction://hlinksldjump"/>
              </a:rPr>
              <a:t>3</a:t>
            </a:r>
            <a:endParaRPr lang="en-IN" altLang="en-US" sz="3200">
              <a:sym typeface="+mn-ea"/>
            </a:endParaRPr>
          </a:p>
          <a:p>
            <a:pPr algn="ctr">
              <a:lnSpc>
                <a:spcPct val="120000"/>
              </a:lnSpc>
            </a:pPr>
            <a:r>
              <a:rPr lang="en-IN" altLang="en-US" sz="3200">
                <a:sym typeface="+mn-ea"/>
                <a:hlinkClick r:id="rId2" action="ppaction://hlinksldjump"/>
              </a:rPr>
              <a:t>4</a:t>
            </a:r>
            <a:endParaRPr lang="en-IN" altLang="en-US" sz="3200">
              <a:sym typeface="+mn-ea"/>
            </a:endParaRPr>
          </a:p>
          <a:p>
            <a:pPr algn="ctr">
              <a:lnSpc>
                <a:spcPct val="120000"/>
              </a:lnSpc>
            </a:pPr>
            <a:r>
              <a:rPr lang="en-IN" altLang="en-US" sz="3200">
                <a:sym typeface="+mn-ea"/>
              </a:rPr>
              <a:t>5</a:t>
            </a:r>
            <a:endParaRPr lang="en-IN" altLang="en-US" sz="3200">
              <a:sym typeface="+mn-ea"/>
            </a:endParaRPr>
          </a:p>
          <a:p>
            <a:pPr algn="ctr">
              <a:lnSpc>
                <a:spcPct val="120000"/>
              </a:lnSpc>
            </a:pPr>
            <a:r>
              <a:rPr lang="en-IN" altLang="en-US" sz="3200">
                <a:sym typeface="+mn-ea"/>
              </a:rPr>
              <a:t>5</a:t>
            </a:r>
            <a:endParaRPr lang="en-IN" altLang="en-US" sz="3200">
              <a:sym typeface="+mn-ea"/>
            </a:endParaRPr>
          </a:p>
          <a:p>
            <a:pPr algn="ctr">
              <a:lnSpc>
                <a:spcPct val="120000"/>
              </a:lnSpc>
            </a:pPr>
            <a:r>
              <a:rPr lang="en-IN" altLang="en-US" sz="3200">
                <a:sym typeface="+mn-ea"/>
              </a:rPr>
              <a:t>5</a:t>
            </a:r>
            <a:endParaRPr lang="en-IN" altLang="en-US" sz="3200">
              <a:sym typeface="+mn-ea"/>
            </a:endParaRPr>
          </a:p>
          <a:p>
            <a:pPr algn="ctr">
              <a:lnSpc>
                <a:spcPct val="120000"/>
              </a:lnSpc>
            </a:pPr>
            <a:r>
              <a:rPr lang="en-IN" altLang="en-US" sz="3200">
                <a:sym typeface="+mn-ea"/>
              </a:rPr>
              <a:t>5</a:t>
            </a:r>
            <a:endParaRPr lang="en-IN" altLang="en-US" sz="3200">
              <a:sym typeface="+mn-ea"/>
            </a:endParaRPr>
          </a:p>
          <a:p>
            <a:pPr algn="ctr">
              <a:lnSpc>
                <a:spcPct val="120000"/>
              </a:lnSpc>
            </a:pPr>
            <a:r>
              <a:rPr lang="en-IN" altLang="en-US" sz="3200">
                <a:sym typeface="+mn-ea"/>
              </a:rPr>
              <a:t>5</a:t>
            </a:r>
            <a:endParaRPr lang="en-IN" altLang="en-US" sz="3200">
              <a:sym typeface="+mn-ea"/>
            </a:endParaRPr>
          </a:p>
          <a:p>
            <a:pPr algn="ctr">
              <a:lnSpc>
                <a:spcPct val="110000"/>
              </a:lnSpc>
            </a:pPr>
            <a:r>
              <a:rPr lang="en-IN" altLang="en-US" sz="2000">
                <a:sym typeface="+mn-ea"/>
              </a:rPr>
              <a:t>  </a:t>
            </a:r>
            <a:endParaRPr lang="en-IN" altLang="en-US" sz="200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sz="4000"/>
              <a:t>ABSTRACT</a:t>
            </a:r>
            <a:endParaRPr lang="en-IN" altLang="en-US" sz="4000"/>
          </a:p>
        </p:txBody>
      </p:sp>
      <p:sp>
        <p:nvSpPr>
          <p:cNvPr id="3" name="Content Placeholder 2"/>
          <p:cNvSpPr>
            <a:spLocks noGrp="1"/>
          </p:cNvSpPr>
          <p:nvPr>
            <p:ph idx="1"/>
          </p:nvPr>
        </p:nvSpPr>
        <p:spPr>
          <a:xfrm>
            <a:off x="200025" y="1844675"/>
            <a:ext cx="8773795" cy="4526280"/>
          </a:xfrm>
        </p:spPr>
        <p:txBody>
          <a:bodyPr/>
          <a:p>
            <a:pPr marL="0" indent="0">
              <a:buNone/>
            </a:pPr>
            <a:r>
              <a:rPr lang="en-IN" altLang="en-US" sz="2800"/>
              <a:t>                         In today’s real world scenario the main problem for many well-known organizations is security. Eventhough the organizations arranged guards the intruders are finding some or the other way to heist.In this situation there is a high demand of technology in the security field.So,our university has approached us who are in R&amp;D team, for finding a solution.</a:t>
            </a:r>
            <a:br>
              <a:rPr lang="en-IN" altLang="en-US" sz="2800"/>
            </a:br>
            <a:r>
              <a:rPr lang="en-IN" altLang="en-US" sz="2800"/>
              <a:t>                  To solve the above problem facing by our university we came up with a solution called “Li-Fi Security System”.</a:t>
            </a:r>
            <a:endParaRPr lang="en-IN" altLang="en-US"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  </a:t>
            </a:r>
            <a:endParaRPr lang="en-IN" altLang="en-US"/>
          </a:p>
        </p:txBody>
      </p:sp>
      <p:sp>
        <p:nvSpPr>
          <p:cNvPr id="3" name="Content Placeholder 2"/>
          <p:cNvSpPr>
            <a:spLocks noGrp="1"/>
          </p:cNvSpPr>
          <p:nvPr>
            <p:ph idx="1"/>
          </p:nvPr>
        </p:nvSpPr>
        <p:spPr>
          <a:xfrm>
            <a:off x="611505" y="1417955"/>
            <a:ext cx="8383270" cy="4641215"/>
          </a:xfrm>
        </p:spPr>
        <p:txBody>
          <a:bodyPr/>
          <a:p>
            <a:pPr marL="0" indent="0" algn="ctr">
              <a:buNone/>
            </a:pPr>
            <a:endParaRPr lang="en-IN" altLang="en-US"/>
          </a:p>
          <a:p>
            <a:r>
              <a:rPr lang="en-IN" altLang="en-US"/>
              <a:t>Laser light</a:t>
            </a:r>
            <a:endParaRPr lang="en-IN" altLang="en-US"/>
          </a:p>
          <a:p>
            <a:r>
              <a:rPr lang="en-IN" altLang="en-US"/>
              <a:t>Mirrors</a:t>
            </a:r>
            <a:endParaRPr lang="en-IN" altLang="en-US"/>
          </a:p>
          <a:p>
            <a:r>
              <a:rPr lang="en-IN" altLang="en-US"/>
              <a:t>LDR</a:t>
            </a:r>
            <a:r>
              <a:rPr lang="en-IN" altLang="en-US" sz="1400" b="1"/>
              <a:t> </a:t>
            </a:r>
            <a:r>
              <a:rPr lang="en-IN" altLang="en-US" sz="1600"/>
              <a:t> </a:t>
            </a:r>
            <a:r>
              <a:rPr lang="en-IN" altLang="en-US"/>
              <a:t> </a:t>
            </a:r>
            <a:endParaRPr lang="en-IN" altLang="en-US"/>
          </a:p>
          <a:p>
            <a:r>
              <a:rPr lang="en-IN" altLang="en-US"/>
              <a:t>ESP-32 microcontroller</a:t>
            </a:r>
            <a:endParaRPr lang="en-IN" altLang="en-US"/>
          </a:p>
          <a:p>
            <a:r>
              <a:rPr lang="en-IN" altLang="en-US"/>
              <a:t>Buzzers</a:t>
            </a:r>
            <a:endParaRPr lang="en-IN" altLang="en-US"/>
          </a:p>
          <a:p>
            <a:r>
              <a:rPr lang="en-IN" altLang="en-US"/>
              <a:t>Arduino IDE</a:t>
            </a:r>
            <a:endParaRPr lang="en-IN" altLang="en-US"/>
          </a:p>
          <a:p>
            <a:endParaRPr lang="en-IN" altLang="en-US"/>
          </a:p>
        </p:txBody>
      </p:sp>
      <p:sp>
        <p:nvSpPr>
          <p:cNvPr id="5" name="Text Box 4"/>
          <p:cNvSpPr txBox="1"/>
          <p:nvPr/>
        </p:nvSpPr>
        <p:spPr>
          <a:xfrm>
            <a:off x="1043305" y="548640"/>
            <a:ext cx="6788150" cy="1470025"/>
          </a:xfrm>
          <a:prstGeom prst="rect">
            <a:avLst/>
          </a:prstGeom>
          <a:noFill/>
        </p:spPr>
        <p:txBody>
          <a:bodyPr wrap="square" rtlCol="0">
            <a:spAutoFit/>
          </a:bodyPr>
          <a:p>
            <a:pPr algn="ctr">
              <a:lnSpc>
                <a:spcPct val="110000"/>
              </a:lnSpc>
            </a:pPr>
            <a:r>
              <a:rPr lang="en-IN" altLang="en-US" sz="2800" b="1" i="1">
                <a:sym typeface="+mn-ea"/>
              </a:rPr>
              <a:t>SYSTEM REQUIREMENT SPECIFICATIONS</a:t>
            </a:r>
            <a:endParaRPr lang="en-IN" altLang="en-US" sz="2800" b="1" i="1"/>
          </a:p>
          <a:p>
            <a:pPr algn="ctr"/>
            <a:endParaRPr lang="en-IN" altLang="en-US" sz="2800" b="1" i="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Title 6"/>
          <p:cNvSpPr>
            <a:spLocks noGrp="1"/>
          </p:cNvSpPr>
          <p:nvPr>
            <p:ph type="title"/>
          </p:nvPr>
        </p:nvSpPr>
        <p:spPr/>
        <p:txBody>
          <a:bodyPr/>
          <a:p>
            <a:r>
              <a:rPr lang="en-IN" altLang="en-US"/>
              <a:t> </a:t>
            </a:r>
            <a:endParaRPr lang="en-IN" altLang="en-US"/>
          </a:p>
        </p:txBody>
      </p:sp>
      <p:pic>
        <p:nvPicPr>
          <p:cNvPr id="4" name="Content Placeholder 3" descr="esp"/>
          <p:cNvPicPr>
            <a:picLocks noChangeAspect="1"/>
          </p:cNvPicPr>
          <p:nvPr>
            <p:ph sz="half" idx="1"/>
          </p:nvPr>
        </p:nvPicPr>
        <p:blipFill>
          <a:blip r:embed="rId1"/>
          <a:stretch>
            <a:fillRect/>
          </a:stretch>
        </p:blipFill>
        <p:spPr>
          <a:xfrm>
            <a:off x="683895" y="2060575"/>
            <a:ext cx="1714500" cy="1714500"/>
          </a:xfrm>
          <a:prstGeom prst="rect">
            <a:avLst/>
          </a:prstGeom>
        </p:spPr>
      </p:pic>
      <p:pic>
        <p:nvPicPr>
          <p:cNvPr id="6" name="Content Placeholder 5" descr="ldr"/>
          <p:cNvPicPr>
            <a:picLocks noChangeAspect="1"/>
          </p:cNvPicPr>
          <p:nvPr>
            <p:ph sz="half" idx="2"/>
          </p:nvPr>
        </p:nvPicPr>
        <p:blipFill>
          <a:blip r:embed="rId2"/>
          <a:stretch>
            <a:fillRect/>
          </a:stretch>
        </p:blipFill>
        <p:spPr>
          <a:xfrm>
            <a:off x="3275965" y="2237740"/>
            <a:ext cx="1360805" cy="1360805"/>
          </a:xfrm>
          <a:prstGeom prst="rect">
            <a:avLst/>
          </a:prstGeom>
        </p:spPr>
      </p:pic>
      <p:sp>
        <p:nvSpPr>
          <p:cNvPr id="9" name="Text Box 8"/>
          <p:cNvSpPr txBox="1"/>
          <p:nvPr/>
        </p:nvSpPr>
        <p:spPr>
          <a:xfrm>
            <a:off x="1619885" y="3244850"/>
            <a:ext cx="895985" cy="337185"/>
          </a:xfrm>
          <a:prstGeom prst="rect">
            <a:avLst/>
          </a:prstGeom>
          <a:noFill/>
        </p:spPr>
        <p:txBody>
          <a:bodyPr wrap="square" rtlCol="0">
            <a:spAutoFit/>
          </a:bodyPr>
          <a:p>
            <a:r>
              <a:rPr lang="en-IN" altLang="en-US" sz="1600"/>
              <a:t>fig-1</a:t>
            </a:r>
            <a:endParaRPr lang="en-IN" altLang="en-US" sz="1600"/>
          </a:p>
        </p:txBody>
      </p:sp>
      <p:sp>
        <p:nvSpPr>
          <p:cNvPr id="11" name="Text Box 10"/>
          <p:cNvSpPr txBox="1"/>
          <p:nvPr/>
        </p:nvSpPr>
        <p:spPr>
          <a:xfrm>
            <a:off x="1835785" y="554990"/>
            <a:ext cx="6158230" cy="583565"/>
          </a:xfrm>
          <a:prstGeom prst="rect">
            <a:avLst/>
          </a:prstGeom>
          <a:noFill/>
        </p:spPr>
        <p:txBody>
          <a:bodyPr wrap="none" rtlCol="0">
            <a:spAutoFit/>
          </a:bodyPr>
          <a:p>
            <a:pPr algn="ctr"/>
            <a:r>
              <a:rPr lang="en-IN" altLang="en-US" sz="3200" b="1"/>
              <a:t>PICTORIAL REPRESENTATION</a:t>
            </a:r>
            <a:endParaRPr lang="en-IN" altLang="en-US" sz="3200" b="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Title 106497"/>
          <p:cNvSpPr>
            <a:spLocks noGrp="1"/>
          </p:cNvSpPr>
          <p:nvPr>
            <p:ph type="title"/>
          </p:nvPr>
        </p:nvSpPr>
        <p:spPr>
          <a:xfrm>
            <a:off x="395605" y="189230"/>
            <a:ext cx="8435975" cy="1052830"/>
          </a:xfrm>
        </p:spPr>
        <p:txBody>
          <a:bodyPr anchor="ctr" anchorCtr="0"/>
          <a:p>
            <a:r>
              <a:rPr lang="en-IN" sz="4000">
                <a:solidFill>
                  <a:schemeClr val="tx1"/>
                </a:solidFill>
              </a:rPr>
              <a:t>INTRODUCTION</a:t>
            </a:r>
            <a:endParaRPr lang="en-IN" sz="4000">
              <a:solidFill>
                <a:schemeClr val="tx1"/>
              </a:solidFill>
            </a:endParaRPr>
          </a:p>
        </p:txBody>
      </p:sp>
      <p:sp>
        <p:nvSpPr>
          <p:cNvPr id="106499" name="Text Placeholder 106498"/>
          <p:cNvSpPr>
            <a:spLocks noGrp="1"/>
          </p:cNvSpPr>
          <p:nvPr>
            <p:ph type="body" idx="1"/>
          </p:nvPr>
        </p:nvSpPr>
        <p:spPr>
          <a:xfrm>
            <a:off x="395605" y="1844358"/>
            <a:ext cx="8229600" cy="4525962"/>
          </a:xfrm>
        </p:spPr>
        <p:txBody>
          <a:bodyPr/>
          <a:p>
            <a:r>
              <a:t>LiFi, short for Light Fidelity, is a game-changing innovation that enables the</a:t>
            </a:r>
            <a:r>
              <a:rPr lang="en-IN"/>
              <a:t> </a:t>
            </a:r>
            <a:r>
              <a:rPr>
                <a:sym typeface="+mn-ea"/>
              </a:rPr>
              <a:t>high-speed transmission of high volumes of data.</a:t>
            </a:r>
            <a:endParaRPr>
              <a:sym typeface="+mn-ea"/>
            </a:endParaRPr>
          </a:p>
          <a:p>
            <a:r>
              <a:rPr lang="en-IN">
                <a:sym typeface="+mn-ea"/>
              </a:rPr>
              <a:t>It uses light-emitting diodes for data transmission. In other words, it’s a light-based Wi-Fi which uses light instead of radio waves to transmit information.</a:t>
            </a:r>
            <a:endParaRPr lang="en-IN">
              <a:sym typeface="+mn-ea"/>
            </a:endParaRPr>
          </a:p>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 </a:t>
            </a:r>
            <a:endParaRPr lang="en-IN" altLang="en-US"/>
          </a:p>
        </p:txBody>
      </p:sp>
      <p:sp>
        <p:nvSpPr>
          <p:cNvPr id="3" name="Content Placeholder 2"/>
          <p:cNvSpPr>
            <a:spLocks noGrp="1"/>
          </p:cNvSpPr>
          <p:nvPr>
            <p:ph idx="1"/>
          </p:nvPr>
        </p:nvSpPr>
        <p:spPr>
          <a:xfrm>
            <a:off x="457200" y="1600200"/>
            <a:ext cx="2890520" cy="687705"/>
          </a:xfrm>
        </p:spPr>
        <p:txBody>
          <a:bodyPr/>
          <a:p>
            <a:pPr marL="0" indent="0" algn="l">
              <a:lnSpc>
                <a:spcPct val="110000"/>
              </a:lnSpc>
              <a:buNone/>
            </a:pPr>
            <a:r>
              <a:rPr lang="en-IN" altLang="en-US" b="1" u="sng"/>
              <a:t> WHY Li-Fi ?</a:t>
            </a:r>
            <a:endParaRPr lang="en-IN" altLang="en-US" b="1" u="sng"/>
          </a:p>
          <a:p>
            <a:pPr marL="0" indent="0" algn="l">
              <a:lnSpc>
                <a:spcPct val="110000"/>
              </a:lnSpc>
              <a:buNone/>
            </a:pPr>
            <a:endParaRPr lang="en-IN" altLang="en-US" sz="3600" b="1" u="sng"/>
          </a:p>
          <a:p>
            <a:pPr marL="0" indent="0" algn="l">
              <a:lnSpc>
                <a:spcPct val="110000"/>
              </a:lnSpc>
              <a:buNone/>
            </a:pPr>
            <a:endParaRPr lang="en-IN" altLang="en-US" sz="3600" b="1" u="sng"/>
          </a:p>
        </p:txBody>
      </p:sp>
      <p:sp>
        <p:nvSpPr>
          <p:cNvPr id="4" name="Text Box 3"/>
          <p:cNvSpPr txBox="1"/>
          <p:nvPr/>
        </p:nvSpPr>
        <p:spPr>
          <a:xfrm>
            <a:off x="612140" y="2470150"/>
            <a:ext cx="8074660" cy="4363085"/>
          </a:xfrm>
          <a:prstGeom prst="rect">
            <a:avLst/>
          </a:prstGeom>
          <a:noFill/>
        </p:spPr>
        <p:txBody>
          <a:bodyPr wrap="square" rtlCol="0">
            <a:spAutoFit/>
          </a:bodyPr>
          <a:p>
            <a:pPr marL="285750" indent="-285750">
              <a:buFont typeface="Arial" panose="020B0604020202020204" pitchFamily="34" charset="0"/>
              <a:buChar char="•"/>
            </a:pPr>
            <a:r>
              <a:rPr lang="en-IN" altLang="en-US" sz="2800" b="1"/>
              <a:t>The present world is dependent on less efficient wireless communication called Wi-Fi which works with radio waves.</a:t>
            </a:r>
            <a:endParaRPr lang="en-IN" altLang="en-US" sz="2800" b="1"/>
          </a:p>
          <a:p>
            <a:pPr>
              <a:lnSpc>
                <a:spcPct val="120000"/>
              </a:lnSpc>
              <a:buFont typeface="Arial" panose="020B0604020202020204" pitchFamily="34" charset="0"/>
            </a:pPr>
            <a:endParaRPr lang="en-IN" altLang="en-US" sz="2800" b="1"/>
          </a:p>
          <a:p>
            <a:pPr marL="285750" indent="-285750">
              <a:lnSpc>
                <a:spcPct val="100000"/>
              </a:lnSpc>
              <a:buFont typeface="Arial" panose="020B0604020202020204" pitchFamily="34" charset="0"/>
              <a:buChar char="•"/>
            </a:pPr>
            <a:r>
              <a:rPr lang="en-IN" altLang="en-US" sz="2800" b="1"/>
              <a:t>According,to </a:t>
            </a:r>
            <a:r>
              <a:rPr lang="en-IN" altLang="en-US" sz="2800" b="1">
                <a:hlinkClick r:id="rId1" action="ppaction://hlinksldjump"/>
              </a:rPr>
              <a:t>fig-2.1</a:t>
            </a:r>
            <a:r>
              <a:rPr lang="en-IN" altLang="en-US" sz="2800" b="1"/>
              <a:t> the bandwidth of radio waves is  less compared to the all other waves in spectrum.So,this limits the amount of data.</a:t>
            </a:r>
            <a:endParaRPr lang="en-IN" altLang="en-US" sz="2800" b="1"/>
          </a:p>
          <a:p>
            <a:pPr marL="285750" indent="-285750">
              <a:buFont typeface="Arial" panose="020B0604020202020204" pitchFamily="34" charset="0"/>
              <a:buChar char="•"/>
            </a:pPr>
            <a:endParaRPr lang="en-IN" altLang="en-US" sz="2400" b="1"/>
          </a:p>
          <a:p>
            <a:pPr marL="285750" indent="-285750">
              <a:buFont typeface="Arial" panose="020B0604020202020204" pitchFamily="34" charset="0"/>
              <a:buChar char="•"/>
            </a:pPr>
            <a:endParaRPr lang="en-IN" altLang="en-US" sz="2400"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 </a:t>
            </a:r>
            <a:endParaRPr lang="en-IN" altLang="en-US"/>
          </a:p>
        </p:txBody>
      </p:sp>
      <p:sp>
        <p:nvSpPr>
          <p:cNvPr id="3" name="Content Placeholder 2"/>
          <p:cNvSpPr>
            <a:spLocks noGrp="1"/>
          </p:cNvSpPr>
          <p:nvPr>
            <p:ph idx="1"/>
          </p:nvPr>
        </p:nvSpPr>
        <p:spPr>
          <a:xfrm>
            <a:off x="467995" y="1844675"/>
            <a:ext cx="8229600" cy="4525963"/>
          </a:xfrm>
        </p:spPr>
        <p:txBody>
          <a:bodyPr/>
          <a:p>
            <a:r>
              <a:rPr lang="en-IN" altLang="en-US"/>
              <a:t>All other waves with higher bandwidth are dangerous to humans and the only safe to use and having higher bandwidth is Visble Light.</a:t>
            </a:r>
            <a:endParaRPr lang="en-IN" altLang="en-US"/>
          </a:p>
          <a:p>
            <a:r>
              <a:rPr lang="en-IN" altLang="en-US"/>
              <a:t>Data transmission speed,Data Density, Energy efficiency are the major  advantages of LiFi.</a:t>
            </a:r>
            <a:endParaRPr lang="en-IN" altLang="en-US"/>
          </a:p>
          <a:p>
            <a:endParaRPr lang="en-I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 </a:t>
            </a:r>
            <a:endParaRPr lang="en-IN" altLang="en-US"/>
          </a:p>
        </p:txBody>
      </p:sp>
      <p:pic>
        <p:nvPicPr>
          <p:cNvPr id="4" name="Content Placeholder 3" descr="Screenshot_20221215_041758"/>
          <p:cNvPicPr>
            <a:picLocks noChangeAspect="1"/>
          </p:cNvPicPr>
          <p:nvPr>
            <p:ph idx="1"/>
          </p:nvPr>
        </p:nvPicPr>
        <p:blipFill>
          <a:blip r:embed="rId1"/>
          <a:stretch>
            <a:fillRect/>
          </a:stretch>
        </p:blipFill>
        <p:spPr>
          <a:xfrm>
            <a:off x="673100" y="2296160"/>
            <a:ext cx="7955280" cy="37947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 </a:t>
            </a:r>
            <a:endParaRPr lang="en-IN" altLang="en-US"/>
          </a:p>
        </p:txBody>
      </p:sp>
      <p:pic>
        <p:nvPicPr>
          <p:cNvPr id="4" name="Content Placeholder 3"/>
          <p:cNvPicPr>
            <a:picLocks noChangeAspect="1"/>
          </p:cNvPicPr>
          <p:nvPr>
            <p:ph idx="1"/>
          </p:nvPr>
        </p:nvPicPr>
        <p:blipFill>
          <a:blip r:embed="rId1"/>
          <a:stretch>
            <a:fillRect/>
          </a:stretch>
        </p:blipFill>
        <p:spPr>
          <a:xfrm>
            <a:off x="611505" y="2060575"/>
            <a:ext cx="7788275" cy="4337685"/>
          </a:xfrm>
          <a:prstGeom prst="rect">
            <a:avLst/>
          </a:prstGeom>
        </p:spPr>
      </p:pic>
      <p:sp>
        <p:nvSpPr>
          <p:cNvPr id="5" name="Rectangles 4"/>
          <p:cNvSpPr/>
          <p:nvPr/>
        </p:nvSpPr>
        <p:spPr>
          <a:xfrm>
            <a:off x="539750" y="1772285"/>
            <a:ext cx="1007745" cy="5765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 </a:t>
            </a:r>
            <a:endParaRPr lang="en-IN" altLang="en-US"/>
          </a:p>
        </p:txBody>
      </p:sp>
      <p:sp>
        <p:nvSpPr>
          <p:cNvPr id="3" name="Content Placeholder 2"/>
          <p:cNvSpPr>
            <a:spLocks noGrp="1"/>
          </p:cNvSpPr>
          <p:nvPr>
            <p:ph idx="1"/>
          </p:nvPr>
        </p:nvSpPr>
        <p:spPr/>
        <p:txBody>
          <a:bodyPr/>
          <a:p>
            <a:r>
              <a:rPr lang="en-IN" altLang="en-US"/>
              <a:t>“Li-Fi will never replace Wi-fi”,but it is definetely an viable alternative to the Wi-Fi. </a:t>
            </a:r>
            <a:endParaRPr lang="en-IN" altLang="en-US"/>
          </a:p>
          <a:p>
            <a:r>
              <a:rPr lang="en-IN" altLang="en-US"/>
              <a:t>Li-Fi can be used in the areas  that are sensitive to the prevailing technology. </a:t>
            </a:r>
            <a:endParaRPr lang="en-IN" altLang="en-US"/>
          </a:p>
          <a:p>
            <a:r>
              <a:rPr lang="en-IN" altLang="en-US"/>
              <a:t>The major limitation of Li-Fi is it cannot penetrate through obstacles.</a:t>
            </a:r>
            <a:endParaRPr lang="en-IN" altLang="en-US"/>
          </a:p>
          <a:p>
            <a:r>
              <a:rPr lang="en-IN" altLang="en-US"/>
              <a:t>But this limitation is the stepping stone to our project.</a:t>
            </a:r>
            <a:endParaRPr lang="en-I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 </a:t>
            </a:r>
            <a:endParaRPr lang="en-IN" altLang="en-US"/>
          </a:p>
        </p:txBody>
      </p:sp>
      <p:sp>
        <p:nvSpPr>
          <p:cNvPr id="3" name="Content Placeholder 2"/>
          <p:cNvSpPr>
            <a:spLocks noGrp="1"/>
          </p:cNvSpPr>
          <p:nvPr>
            <p:ph idx="1"/>
          </p:nvPr>
        </p:nvSpPr>
        <p:spPr>
          <a:xfrm>
            <a:off x="395605" y="1844675"/>
            <a:ext cx="8229600" cy="4525963"/>
          </a:xfrm>
        </p:spPr>
        <p:txBody>
          <a:bodyPr/>
          <a:p>
            <a:r>
              <a:rPr lang="en-IN">
                <a:sym typeface="+mn-ea"/>
              </a:rPr>
              <a:t>We the team of FabLab didn’t limit ourselves to limitations and thought  innovatively and devolped the project Security system through Li-Fi</a:t>
            </a:r>
            <a:endParaRPr lang="en-IN"/>
          </a:p>
          <a:p>
            <a:r>
              <a:rPr lang="en-IN">
                <a:sym typeface="+mn-ea"/>
              </a:rPr>
              <a:t>We have used the apparatus mentioned in </a:t>
            </a:r>
            <a:r>
              <a:rPr lang="en-IN">
                <a:sym typeface="+mn-ea"/>
                <a:hlinkClick r:id="rId1" action="ppaction://hlinksldjump"/>
              </a:rPr>
              <a:t>this slide</a:t>
            </a:r>
            <a:r>
              <a:rPr lang="en-IN">
                <a:sym typeface="+mn-ea"/>
              </a:rPr>
              <a:t> to build this project.</a:t>
            </a:r>
            <a:endParaRPr lang="en-IN">
              <a:sym typeface="+mn-ea"/>
            </a:endParaRPr>
          </a:p>
          <a:p>
            <a:r>
              <a:rPr lang="en-IN" altLang="en-US"/>
              <a:t>This project mainly depends on 2L’s those are LDR and LED.</a:t>
            </a:r>
            <a:endParaRPr lang="en-I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 </a:t>
            </a:r>
            <a:endParaRPr lang="en-IN" altLang="en-US"/>
          </a:p>
        </p:txBody>
      </p:sp>
      <p:sp>
        <p:nvSpPr>
          <p:cNvPr id="3" name="Content Placeholder 2"/>
          <p:cNvSpPr>
            <a:spLocks noGrp="1"/>
          </p:cNvSpPr>
          <p:nvPr>
            <p:ph idx="1"/>
          </p:nvPr>
        </p:nvSpPr>
        <p:spPr/>
        <p:txBody>
          <a:bodyPr/>
          <a:p>
            <a:r>
              <a:rPr lang="en-IN" altLang="en-US"/>
              <a:t>The system will be creating a virtual wall that is not visible to anyone with the help of Led’s.</a:t>
            </a:r>
            <a:endParaRPr lang="en-IN" altLang="en-US"/>
          </a:p>
          <a:p>
            <a:r>
              <a:rPr lang="en-IN" altLang="en-US"/>
              <a:t>This virtual wall will be created to restrict the access to prohibited areas.</a:t>
            </a:r>
            <a:endParaRPr lang="en-IN" altLang="en-US"/>
          </a:p>
          <a:p>
            <a:r>
              <a:rPr lang="en-IN" altLang="en-US"/>
              <a:t>This product will easily replace the duty of a night shift security guard.</a:t>
            </a:r>
            <a:endParaRPr lang="en-IN" altLang="en-US"/>
          </a:p>
          <a:p>
            <a:r>
              <a:rPr lang="en-IN" altLang="en-US"/>
              <a:t>If any tresspasser tries to pass the wall buzzer will start and admin will be notified.</a:t>
            </a:r>
            <a:endParaRPr lang="en-I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Methodology</a:t>
            </a:r>
            <a:endParaRPr lang="en-IN" altLang="en-US"/>
          </a:p>
        </p:txBody>
      </p:sp>
      <p:sp>
        <p:nvSpPr>
          <p:cNvPr id="3" name="Content Placeholder 2"/>
          <p:cNvSpPr>
            <a:spLocks noGrp="1"/>
          </p:cNvSpPr>
          <p:nvPr>
            <p:ph idx="1"/>
          </p:nvPr>
        </p:nvSpPr>
        <p:spPr>
          <a:xfrm>
            <a:off x="467360" y="1772285"/>
            <a:ext cx="8229600" cy="4525963"/>
          </a:xfrm>
        </p:spPr>
        <p:txBody>
          <a:bodyPr/>
          <a:p>
            <a:r>
              <a:rPr lang="en-IN" altLang="en-US" sz="3000"/>
              <a:t>Li-Fi systems have two main components: a photodiode and a light source.The photodiode and the light source act as reciever and transceiver to facilitate the transfer of data. </a:t>
            </a:r>
            <a:endParaRPr lang="en-IN" altLang="en-US" sz="3000"/>
          </a:p>
          <a:p>
            <a:r>
              <a:rPr lang="en-IN" altLang="en-US" sz="3000"/>
              <a:t>Data is transferred within Li-Fi system through the rapid modulation of light. To convey data through the light source, light is rapidly modulated at speeds imperceivable by the unaided eye.</a:t>
            </a:r>
            <a:endParaRPr lang="en-IN" altLang="en-US" sz="3000"/>
          </a:p>
          <a:p>
            <a:endParaRPr lang="en-IN" altLang="en-US" sz="3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 </a:t>
            </a:r>
            <a:endParaRPr lang="en-IN" altLang="en-US"/>
          </a:p>
        </p:txBody>
      </p:sp>
      <p:sp>
        <p:nvSpPr>
          <p:cNvPr id="3" name="Content Placeholder 2"/>
          <p:cNvSpPr>
            <a:spLocks noGrp="1"/>
          </p:cNvSpPr>
          <p:nvPr>
            <p:ph idx="1"/>
          </p:nvPr>
        </p:nvSpPr>
        <p:spPr>
          <a:xfrm>
            <a:off x="467360" y="1700530"/>
            <a:ext cx="8229600" cy="4525963"/>
          </a:xfrm>
        </p:spPr>
        <p:txBody>
          <a:bodyPr/>
          <a:p>
            <a:r>
              <a:rPr lang="en-IN" altLang="en-US"/>
              <a:t>A microcontroller is attached to the light source, which feeds data into the modulated light. The receiving device, the LDR, receives the light signals and processes them into a series of 1s and 0s. </a:t>
            </a:r>
            <a:endParaRPr lang="en-IN" altLang="en-US"/>
          </a:p>
          <a:p>
            <a:r>
              <a:rPr lang="en-IN" altLang="en-US"/>
              <a:t>The LDR processes the information and verfies the embedded data to the data given by light source. </a:t>
            </a:r>
            <a:endParaRPr lang="en-I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 </a:t>
            </a:r>
            <a:endParaRPr lang="en-IN" altLang="en-US"/>
          </a:p>
        </p:txBody>
      </p:sp>
      <p:sp>
        <p:nvSpPr>
          <p:cNvPr id="3" name="Content Placeholder 2"/>
          <p:cNvSpPr>
            <a:spLocks noGrp="1"/>
          </p:cNvSpPr>
          <p:nvPr>
            <p:ph idx="1"/>
          </p:nvPr>
        </p:nvSpPr>
        <p:spPr/>
        <p:txBody>
          <a:bodyPr/>
          <a:p>
            <a:r>
              <a:rPr lang="en-IN" altLang="en-US"/>
              <a:t>If there is any noise is detected in signal by the ldr,the microcontroller immediately sends a signal to the buzzer and it starts ringing.</a:t>
            </a:r>
            <a:endParaRPr lang="en-IN" altLang="en-US"/>
          </a:p>
          <a:p>
            <a:r>
              <a:rPr lang="en-IN" altLang="en-US"/>
              <a:t>In this system the microcontroller we have used is ESP-32.The main reason behind the usage of ESP is for the usage of internet as ESP is a builtin Wi-Fi module.</a:t>
            </a:r>
            <a:endParaRPr lang="en-IN" altLang="en-US"/>
          </a:p>
          <a:p>
            <a:endParaRPr lang="en-I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  </a:t>
            </a:r>
            <a:endParaRPr lang="en-IN" altLang="en-US"/>
          </a:p>
        </p:txBody>
      </p:sp>
      <p:sp>
        <p:nvSpPr>
          <p:cNvPr id="3" name="Content Placeholder 2"/>
          <p:cNvSpPr>
            <a:spLocks noGrp="1"/>
          </p:cNvSpPr>
          <p:nvPr>
            <p:ph idx="1"/>
          </p:nvPr>
        </p:nvSpPr>
        <p:spPr/>
        <p:txBody>
          <a:bodyPr/>
          <a:p>
            <a:r>
              <a:rPr lang="en-IN" altLang="en-US"/>
              <a:t>Internet plays a vital role in our system.</a:t>
            </a:r>
            <a:endParaRPr lang="en-IN" altLang="en-US"/>
          </a:p>
          <a:p>
            <a:r>
              <a:rPr lang="en-IN" altLang="en-US"/>
              <a:t>The primary use is to connect the system to database.This helps us to  get record of all the information of tresspassers tried to pass through the virtual wall and also how fast did the security responded to off the alarm.</a:t>
            </a:r>
            <a:endParaRPr lang="en-IN" altLang="en-US"/>
          </a:p>
          <a:p>
            <a:endParaRPr lang="en-I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 </a:t>
            </a:r>
            <a:endParaRPr lang="en-IN" altLang="en-US"/>
          </a:p>
        </p:txBody>
      </p:sp>
      <p:sp>
        <p:nvSpPr>
          <p:cNvPr id="3" name="Content Placeholder 2"/>
          <p:cNvSpPr>
            <a:spLocks noGrp="1"/>
          </p:cNvSpPr>
          <p:nvPr>
            <p:ph idx="1"/>
          </p:nvPr>
        </p:nvSpPr>
        <p:spPr/>
        <p:txBody>
          <a:bodyPr/>
          <a:p>
            <a:pPr marL="0" indent="0">
              <a:buNone/>
            </a:pPr>
            <a:r>
              <a:rPr lang="en-IN" altLang="en-US" i="1" u="sng"/>
              <a:t>Database Architecture</a:t>
            </a:r>
            <a:endParaRPr lang="en-IN" altLang="en-US" i="1" u="sng"/>
          </a:p>
          <a:p>
            <a:pPr marL="0" indent="0">
              <a:buNone/>
            </a:pPr>
            <a:endParaRPr lang="en-IN" altLang="en-US" i="1" u="sng"/>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 </a:t>
            </a:r>
            <a:endParaRPr lang="en-IN" altLang="en-US"/>
          </a:p>
        </p:txBody>
      </p:sp>
      <p:sp>
        <p:nvSpPr>
          <p:cNvPr id="3" name="Content Placeholder 2"/>
          <p:cNvSpPr>
            <a:spLocks noGrp="1"/>
          </p:cNvSpPr>
          <p:nvPr>
            <p:ph idx="1"/>
          </p:nvPr>
        </p:nvSpPr>
        <p:spPr/>
        <p:txBody>
          <a:bodyPr/>
          <a:p>
            <a:r>
              <a:rPr lang="en-IN" altLang="en-US"/>
              <a:t>For instance,there are numerous security systems in our university all round.This leads to connect and depend on multiple Wi-Fi routers.</a:t>
            </a:r>
            <a:endParaRPr lang="en-IN" altLang="en-US"/>
          </a:p>
          <a:p>
            <a:r>
              <a:rPr lang="en-IN" altLang="en-US"/>
              <a:t>There are systems which are near the boundaries of university where there is no access to internet.</a:t>
            </a:r>
            <a:endParaRPr lang="en-IN" altLang="en-US"/>
          </a:p>
          <a:p>
            <a:r>
              <a:rPr lang="en-IN" altLang="en-US"/>
              <a:t>So,we came up with a solution to put a mesh network with all the ESP-32’s. </a:t>
            </a:r>
            <a:endParaRPr lang="en-I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 </a:t>
            </a:r>
            <a:endParaRPr lang="en-IN" altLang="en-US"/>
          </a:p>
        </p:txBody>
      </p:sp>
      <p:sp>
        <p:nvSpPr>
          <p:cNvPr id="3" name="Content Placeholder 2"/>
          <p:cNvSpPr>
            <a:spLocks noGrp="1"/>
          </p:cNvSpPr>
          <p:nvPr>
            <p:ph idx="1"/>
          </p:nvPr>
        </p:nvSpPr>
        <p:spPr>
          <a:xfrm>
            <a:off x="395605" y="1844675"/>
            <a:ext cx="8229600" cy="4525963"/>
          </a:xfrm>
        </p:spPr>
        <p:txBody>
          <a:bodyPr/>
          <a:p>
            <a:r>
              <a:rPr lang="en-US"/>
              <a:t>ESP-MESH is a networking protocol built atop the Wi-Fi protocol. ESP-MESH allows numerous devices (referred to as nodes) spread over a large physical area (both indoors and outdoors) to be interconnected under a single WLAN (Wireless Local-Area Network).</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itle 5"/>
          <p:cNvSpPr>
            <a:spLocks noGrp="1"/>
          </p:cNvSpPr>
          <p:nvPr>
            <p:ph type="title"/>
          </p:nvPr>
        </p:nvSpPr>
        <p:spPr/>
        <p:txBody>
          <a:bodyPr/>
          <a:p>
            <a:r>
              <a:rPr lang="en-IN" altLang="en-US"/>
              <a:t> </a:t>
            </a:r>
            <a:endParaRPr lang="en-IN" altLang="en-US"/>
          </a:p>
        </p:txBody>
      </p:sp>
      <p:pic>
        <p:nvPicPr>
          <p:cNvPr id="4" name="Content Placeholder 3"/>
          <p:cNvPicPr>
            <a:picLocks noChangeAspect="1"/>
          </p:cNvPicPr>
          <p:nvPr>
            <p:ph sz="half" idx="1"/>
          </p:nvPr>
        </p:nvPicPr>
        <p:blipFill>
          <a:blip r:embed="rId1"/>
          <a:stretch>
            <a:fillRect/>
          </a:stretch>
        </p:blipFill>
        <p:spPr>
          <a:xfrm>
            <a:off x="457200" y="2924810"/>
            <a:ext cx="4145915" cy="2375535"/>
          </a:xfrm>
          <a:prstGeom prst="rect">
            <a:avLst/>
          </a:prstGeom>
        </p:spPr>
      </p:pic>
      <p:pic>
        <p:nvPicPr>
          <p:cNvPr id="5" name="Content Placeholder 4"/>
          <p:cNvPicPr>
            <a:picLocks noChangeAspect="1"/>
          </p:cNvPicPr>
          <p:nvPr>
            <p:ph sz="half" idx="2"/>
          </p:nvPr>
        </p:nvPicPr>
        <p:blipFill>
          <a:blip r:embed="rId2"/>
          <a:stretch>
            <a:fillRect/>
          </a:stretch>
        </p:blipFill>
        <p:spPr>
          <a:xfrm>
            <a:off x="4728210" y="3140710"/>
            <a:ext cx="4110355" cy="2205355"/>
          </a:xfrm>
          <a:prstGeom prst="rect">
            <a:avLst/>
          </a:prstGeom>
        </p:spPr>
      </p:pic>
      <p:sp>
        <p:nvSpPr>
          <p:cNvPr id="7" name="Text Box 6"/>
          <p:cNvSpPr txBox="1"/>
          <p:nvPr/>
        </p:nvSpPr>
        <p:spPr>
          <a:xfrm>
            <a:off x="395605" y="2420620"/>
            <a:ext cx="4332605" cy="368300"/>
          </a:xfrm>
          <a:prstGeom prst="rect">
            <a:avLst/>
          </a:prstGeom>
          <a:noFill/>
        </p:spPr>
        <p:txBody>
          <a:bodyPr wrap="none" rtlCol="0">
            <a:spAutoFit/>
          </a:bodyPr>
          <a:p>
            <a:pPr algn="l"/>
            <a:r>
              <a:rPr lang="en-US" b="1" i="1" u="sng"/>
              <a:t>Traditional Wi-Fi Network Architecture</a:t>
            </a:r>
            <a:endParaRPr lang="en-US" b="1" i="1" u="sng"/>
          </a:p>
        </p:txBody>
      </p:sp>
      <p:sp>
        <p:nvSpPr>
          <p:cNvPr id="8" name="Text Box 7"/>
          <p:cNvSpPr txBox="1"/>
          <p:nvPr/>
        </p:nvSpPr>
        <p:spPr>
          <a:xfrm>
            <a:off x="5220335" y="2420620"/>
            <a:ext cx="3742690" cy="368300"/>
          </a:xfrm>
          <a:prstGeom prst="rect">
            <a:avLst/>
          </a:prstGeom>
          <a:noFill/>
        </p:spPr>
        <p:txBody>
          <a:bodyPr wrap="none" rtlCol="0">
            <a:spAutoFit/>
          </a:bodyPr>
          <a:p>
            <a:pPr algn="l"/>
            <a:r>
              <a:rPr lang="en-US" b="1" i="1" u="sng"/>
              <a:t>ESP-MESH Network Architecture</a:t>
            </a:r>
            <a:endParaRPr lang="en-US" b="1" i="1" u="sng"/>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 </a:t>
            </a:r>
            <a:endParaRPr lang="en-IN" altLang="en-US"/>
          </a:p>
        </p:txBody>
      </p:sp>
      <p:sp>
        <p:nvSpPr>
          <p:cNvPr id="3" name="Content Placeholder 2"/>
          <p:cNvSpPr>
            <a:spLocks noGrp="1"/>
          </p:cNvSpPr>
          <p:nvPr>
            <p:ph sz="half" idx="1"/>
          </p:nvPr>
        </p:nvSpPr>
        <p:spPr>
          <a:xfrm>
            <a:off x="436245" y="1844675"/>
            <a:ext cx="8271510" cy="2599690"/>
          </a:xfrm>
        </p:spPr>
        <p:txBody>
          <a:bodyPr/>
          <a:p>
            <a:r>
              <a:rPr lang="en-IN" altLang="en-US"/>
              <a:t>The communication between the microcontrollers is done with the help of TCP-IP protocol.</a:t>
            </a:r>
            <a:endParaRPr lang="en-IN" altLang="en-US"/>
          </a:p>
        </p:txBody>
      </p:sp>
      <p:pic>
        <p:nvPicPr>
          <p:cNvPr id="4" name="Content Placeholder 3"/>
          <p:cNvPicPr>
            <a:picLocks noChangeAspect="1"/>
          </p:cNvPicPr>
          <p:nvPr>
            <p:ph sz="half" idx="2"/>
          </p:nvPr>
        </p:nvPicPr>
        <p:blipFill>
          <a:blip r:embed="rId1"/>
          <a:stretch>
            <a:fillRect/>
          </a:stretch>
        </p:blipFill>
        <p:spPr>
          <a:xfrm>
            <a:off x="1619885" y="3572510"/>
            <a:ext cx="5328920" cy="2395220"/>
          </a:xfrm>
          <a:prstGeom prst="rect">
            <a:avLst/>
          </a:prstGeom>
        </p:spPr>
      </p:pic>
      <p:sp>
        <p:nvSpPr>
          <p:cNvPr id="5" name="Text Box 4"/>
          <p:cNvSpPr txBox="1"/>
          <p:nvPr/>
        </p:nvSpPr>
        <p:spPr>
          <a:xfrm>
            <a:off x="2339975" y="5967730"/>
            <a:ext cx="3598545" cy="368300"/>
          </a:xfrm>
          <a:prstGeom prst="rect">
            <a:avLst/>
          </a:prstGeom>
          <a:noFill/>
        </p:spPr>
        <p:txBody>
          <a:bodyPr wrap="none" rtlCol="0">
            <a:spAutoFit/>
          </a:bodyPr>
          <a:p>
            <a:pPr algn="l"/>
            <a:r>
              <a:rPr lang="en-US" b="1" i="1" u="sng"/>
              <a:t>TCP 3-Way Handshake Process</a:t>
            </a:r>
            <a:endParaRPr lang="en-US" b="1" i="1" u="sng"/>
          </a:p>
        </p:txBody>
      </p:sp>
      <p:sp>
        <p:nvSpPr>
          <p:cNvPr id="6" name="Rectangles 5"/>
          <p:cNvSpPr/>
          <p:nvPr/>
        </p:nvSpPr>
        <p:spPr>
          <a:xfrm>
            <a:off x="1475740" y="3500755"/>
            <a:ext cx="6192520" cy="14414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 </a:t>
            </a:r>
            <a:endParaRPr lang="en-IN" altLang="en-US"/>
          </a:p>
        </p:txBody>
      </p:sp>
      <p:sp>
        <p:nvSpPr>
          <p:cNvPr id="3" name="Content Placeholder 2"/>
          <p:cNvSpPr>
            <a:spLocks noGrp="1"/>
          </p:cNvSpPr>
          <p:nvPr>
            <p:ph idx="1"/>
          </p:nvPr>
        </p:nvSpPr>
        <p:spPr/>
        <p:txBody>
          <a:bodyPr/>
          <a:p>
            <a:r>
              <a:rPr lang="en-IN" altLang="en-US"/>
              <a:t>We have also devolped a dynamic website for this system which is the main backbone for the entire project.</a:t>
            </a:r>
            <a:endParaRPr lang="en-IN" altLang="en-US"/>
          </a:p>
          <a:p>
            <a:r>
              <a:rPr lang="en-IN" altLang="en-US"/>
              <a:t>This helps the admin to have a control on the security systems.</a:t>
            </a:r>
            <a:endParaRPr lang="en-IN" altLang="en-US"/>
          </a:p>
          <a:p>
            <a:r>
              <a:rPr lang="en-IN" altLang="en-US"/>
              <a:t>Incase of any breakage in the virtual wall of any system.We’ll be notified with a red alert with the location name.</a:t>
            </a:r>
            <a:endParaRPr lang="en-I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Title 8"/>
          <p:cNvSpPr>
            <a:spLocks noGrp="1"/>
          </p:cNvSpPr>
          <p:nvPr>
            <p:ph type="title"/>
          </p:nvPr>
        </p:nvSpPr>
        <p:spPr/>
        <p:txBody>
          <a:bodyPr/>
          <a:p>
            <a:r>
              <a:rPr lang="en-IN" altLang="en-US"/>
              <a:t>Circuit Diagram</a:t>
            </a:r>
            <a:endParaRPr lang="en-IN" altLang="en-US"/>
          </a:p>
        </p:txBody>
      </p:sp>
      <p:pic>
        <p:nvPicPr>
          <p:cNvPr id="12" name="Content Placeholder 11" descr="circuit"/>
          <p:cNvPicPr>
            <a:picLocks noChangeAspect="1"/>
          </p:cNvPicPr>
          <p:nvPr>
            <p:ph sz="half" idx="1"/>
          </p:nvPr>
        </p:nvPicPr>
        <p:blipFill>
          <a:blip r:embed="rId1"/>
          <a:stretch>
            <a:fillRect/>
          </a:stretch>
        </p:blipFill>
        <p:spPr>
          <a:xfrm>
            <a:off x="1259840" y="1772920"/>
            <a:ext cx="6397625" cy="447103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 </a:t>
            </a:r>
            <a:endParaRPr lang="en-IN" altLang="en-US"/>
          </a:p>
        </p:txBody>
      </p:sp>
      <p:pic>
        <p:nvPicPr>
          <p:cNvPr id="4" name="Content Placeholder 3" descr="WhatsApp Image 2022-12-11 at 16.12.36"/>
          <p:cNvPicPr>
            <a:picLocks noChangeAspect="1"/>
          </p:cNvPicPr>
          <p:nvPr>
            <p:ph idx="1"/>
          </p:nvPr>
        </p:nvPicPr>
        <p:blipFill>
          <a:blip r:embed="rId1"/>
          <a:srcRect l="9263" t="18685" r="5522" b="17273"/>
          <a:stretch>
            <a:fillRect/>
          </a:stretch>
        </p:blipFill>
        <p:spPr>
          <a:xfrm>
            <a:off x="2202815" y="1647825"/>
            <a:ext cx="4992370" cy="5210175"/>
          </a:xfrm>
          <a:prstGeom prst="rect">
            <a:avLst/>
          </a:prstGeom>
        </p:spPr>
      </p:pic>
      <p:sp>
        <p:nvSpPr>
          <p:cNvPr id="5" name="Text Box 4"/>
          <p:cNvSpPr txBox="1"/>
          <p:nvPr/>
        </p:nvSpPr>
        <p:spPr>
          <a:xfrm flipH="1" flipV="1">
            <a:off x="1946910" y="1796415"/>
            <a:ext cx="76200" cy="922020"/>
          </a:xfrm>
          <a:prstGeom prst="rect">
            <a:avLst/>
          </a:prstGeom>
          <a:noFill/>
        </p:spPr>
        <p:txBody>
          <a:bodyPr wrap="square" rtlCol="0">
            <a:spAutoFit/>
          </a:bodyPr>
          <a:p>
            <a:endParaRPr lang="en-US"/>
          </a:p>
          <a:p>
            <a:endParaRPr lang="en-US"/>
          </a:p>
          <a:p>
            <a:endParaRPr lang="en-US"/>
          </a:p>
        </p:txBody>
      </p:sp>
      <p:sp>
        <p:nvSpPr>
          <p:cNvPr id="6" name="Text Box 5"/>
          <p:cNvSpPr txBox="1"/>
          <p:nvPr/>
        </p:nvSpPr>
        <p:spPr>
          <a:xfrm>
            <a:off x="3419793" y="764540"/>
            <a:ext cx="2794000" cy="607695"/>
          </a:xfrm>
          <a:prstGeom prst="rect">
            <a:avLst/>
          </a:prstGeom>
          <a:noFill/>
        </p:spPr>
        <p:txBody>
          <a:bodyPr wrap="none" rtlCol="0">
            <a:spAutoFit/>
          </a:bodyPr>
          <a:p>
            <a:pPr algn="ctr">
              <a:lnSpc>
                <a:spcPct val="140000"/>
              </a:lnSpc>
            </a:pPr>
            <a:r>
              <a:rPr lang="en-IN" altLang="en-US" sz="2400" b="1" i="1"/>
              <a:t>F L O W C H A R T</a:t>
            </a:r>
            <a:endParaRPr lang="en-IN" altLang="en-US" sz="2400" b="1" i="1"/>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2" name="Title 1"/>
          <p:cNvSpPr>
            <a:spLocks noGrp="1"/>
          </p:cNvSpPr>
          <p:nvPr>
            <p:ph type="title"/>
          </p:nvPr>
        </p:nvSpPr>
        <p:spPr>
          <a:xfrm>
            <a:off x="755650" y="332423"/>
            <a:ext cx="8229600" cy="1143000"/>
          </a:xfrm>
        </p:spPr>
        <p:txBody>
          <a:bodyPr/>
          <a:p>
            <a:r>
              <a:rPr lang="en-IN" altLang="en-US" sz="3600" b="1"/>
              <a:t>WORKING OF WEBSITE</a:t>
            </a:r>
            <a:endParaRPr lang="en-IN" altLang="en-US" sz="3600" b="1"/>
          </a:p>
        </p:txBody>
      </p:sp>
      <p:pic>
        <p:nvPicPr>
          <p:cNvPr id="4" name="Login - Brave 2022-09-30 00-53-02">
            <a:hlinkClick r:id="" action="ppaction://media"/>
          </p:cNvPr>
          <p:cNvPicPr/>
          <p:nvPr>
            <p:ph idx="1"/>
            <a:videoFile r:link="rId2"/>
            <p:extLst>
              <p:ext uri="{DAA4B4D4-6D71-4841-9C94-3DE7FCFB9230}">
                <p14:media xmlns:p14="http://schemas.microsoft.com/office/powerpoint/2010/main" r:link="rId3"/>
              </p:ext>
            </p:extLst>
          </p:nvPr>
        </p:nvPicPr>
        <p:blipFill>
          <a:blip r:embed="rId4"/>
          <a:stretch>
            <a:fillRect/>
          </a:stretch>
        </p:blipFill>
        <p:spPr>
          <a:xfrm>
            <a:off x="971550" y="1988820"/>
            <a:ext cx="7378065" cy="4192270"/>
          </a:xfrm>
          <a:prstGeom prst="rect">
            <a:avLst/>
          </a:prstGeom>
          <a:ln>
            <a:solidFill>
              <a:schemeClr val="tx2"/>
            </a:solidFill>
          </a:ln>
        </p:spPr>
      </p:pic>
    </p:spTree>
  </p:cSld>
  <p:clrMapOvr>
    <a:masterClrMapping/>
  </p:clrMapOvr>
  <p:timing>
    <p:tnLst>
      <p:par>
        <p:cTn id="1" dur="indefinite" restart="never" nodeType="tmRoot">
          <p:childTnLst>
            <p:video fullScrn="0">
              <p:cMediaNode>
                <p:cTn id="2" fill="hold" display="1">
                  <p:stCondLst>
                    <p:cond delay="indefinite"/>
                  </p:stCondLst>
                </p:cTn>
                <p:tgtEl>
                  <p:spTgt spid="4"/>
                </p:tgtEl>
              </p:cMediaNode>
            </p:video>
            <p:seq concurrent="1" nextAc="seek">
              <p:cTn id="3" restart="whenNotActive" fill="hold" evtFilter="cancelBubble" nodeType="interactiveSeq">
                <p:stCondLst>
                  <p:cond evt="onClick" delay="0">
                    <p:tgtEl>
                      <p:spTgt spid="4"/>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 </a:t>
            </a:r>
            <a:endParaRPr lang="en-IN" altLang="en-US"/>
          </a:p>
        </p:txBody>
      </p:sp>
      <p:pic>
        <p:nvPicPr>
          <p:cNvPr id="4" name="Security - Brave 2022-09-30 21-24-18">
            <a:hlinkClick r:id="" action="ppaction://media"/>
          </p:cNvPr>
          <p:cNvPicPr/>
          <p:nvPr>
            <p:ph idx="1"/>
            <a:videoFile r:link="rId1"/>
            <p:extLst>
              <p:ext uri="{DAA4B4D4-6D71-4841-9C94-3DE7FCFB9230}">
                <p14:media xmlns:p14="http://schemas.microsoft.com/office/powerpoint/2010/main" r:link="rId2"/>
              </p:ext>
            </p:extLst>
          </p:nvPr>
        </p:nvPicPr>
        <p:blipFill>
          <a:blip r:embed="rId3"/>
          <a:stretch>
            <a:fillRect/>
          </a:stretch>
        </p:blipFill>
        <p:spPr>
          <a:xfrm>
            <a:off x="611505" y="1917065"/>
            <a:ext cx="8016875" cy="4496435"/>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4"/>
                </p:tgtEl>
              </p:cMediaNode>
            </p:video>
            <p:seq concurrent="1" nextAc="seek">
              <p:cTn id="3" restart="whenNotActive" fill="hold" evtFilter="cancelBubble" nodeType="interactiveSeq">
                <p:stCondLst>
                  <p:cond evt="onClick" delay="0">
                    <p:tgtEl>
                      <p:spTgt spid="4"/>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Misconceptions</a:t>
            </a:r>
            <a:endParaRPr lang="en-IN" altLang="en-US"/>
          </a:p>
        </p:txBody>
      </p:sp>
      <p:sp>
        <p:nvSpPr>
          <p:cNvPr id="3" name="Content Placeholder 2"/>
          <p:cNvSpPr>
            <a:spLocks noGrp="1"/>
          </p:cNvSpPr>
          <p:nvPr>
            <p:ph idx="1"/>
          </p:nvPr>
        </p:nvSpPr>
        <p:spPr>
          <a:xfrm>
            <a:off x="683895" y="836930"/>
            <a:ext cx="8129270" cy="5397500"/>
          </a:xfrm>
        </p:spPr>
        <p:txBody>
          <a:bodyPr/>
          <a:p>
            <a:pPr marL="0" indent="0">
              <a:buNone/>
            </a:pPr>
            <a:r>
              <a:rPr lang="en-IN" altLang="en-US"/>
              <a:t> </a:t>
            </a:r>
            <a:endParaRPr lang="en-IN" altLang="en-US"/>
          </a:p>
          <a:p>
            <a:pPr marL="0" indent="0">
              <a:buNone/>
            </a:pPr>
            <a:endParaRPr lang="en-IN" altLang="en-US"/>
          </a:p>
          <a:p>
            <a:pPr>
              <a:buFont typeface="Wingdings" panose="05000000000000000000" charset="0"/>
              <a:buChar char="v"/>
            </a:pPr>
            <a:r>
              <a:rPr lang="en-IN" altLang="en-US" b="1" u="sng"/>
              <a:t>LiFi won’t work in sunlight</a:t>
            </a:r>
            <a:endParaRPr lang="en-IN" altLang="en-US" b="1" u="sng"/>
          </a:p>
          <a:p>
            <a:pPr>
              <a:buNone/>
            </a:pPr>
            <a:r>
              <a:rPr lang="en-IN" altLang="en-US"/>
              <a:t>    A lot of people seem to think that if a LiFi user is under direct sunlight, it would be difficult for the device the user is carrying to detect LiFi waves due to higher intensity of light coming from the sun.  </a:t>
            </a:r>
            <a:endParaRPr lang="en-I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 </a:t>
            </a:r>
            <a:endParaRPr lang="en-IN" altLang="en-US"/>
          </a:p>
        </p:txBody>
      </p:sp>
      <p:sp>
        <p:nvSpPr>
          <p:cNvPr id="3" name="Content Placeholder 2"/>
          <p:cNvSpPr>
            <a:spLocks noGrp="1"/>
          </p:cNvSpPr>
          <p:nvPr>
            <p:ph idx="1"/>
          </p:nvPr>
        </p:nvSpPr>
        <p:spPr/>
        <p:txBody>
          <a:bodyPr/>
          <a:p>
            <a:r>
              <a:rPr lang="en-IN" altLang="en-US">
                <a:sym typeface="+mn-ea"/>
              </a:rPr>
              <a:t>However, LiFi can fully operate in daylight. LiFi detects the fast changes in light intensity and not on the absolute or slowly varying levels cause by natural disruptions in sunlight. It modulates the light at very high rates and sunlight is constant light and therefore can be filtered out at the receiver. pureLiFi ran tests with their receivers outdoors under 77,000 Lux of sunlight and they worked perfectly fine.</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LIMITATIONS</a:t>
            </a:r>
            <a:endParaRPr lang="en-IN" altLang="en-US"/>
          </a:p>
        </p:txBody>
      </p:sp>
      <p:sp>
        <p:nvSpPr>
          <p:cNvPr id="3" name="Content Placeholder 2"/>
          <p:cNvSpPr>
            <a:spLocks noGrp="1"/>
          </p:cNvSpPr>
          <p:nvPr>
            <p:ph idx="1"/>
          </p:nvPr>
        </p:nvSpPr>
        <p:spPr/>
        <p:txBody>
          <a:bodyPr/>
          <a:p>
            <a:r>
              <a:rPr lang="en-IN" altLang="en-US"/>
              <a:t>We need to devolp the website in a dynamic way and add some additional features to it.</a:t>
            </a:r>
            <a:endParaRPr lang="en-IN" altLang="en-US"/>
          </a:p>
          <a:p>
            <a:r>
              <a:rPr lang="en-IN" altLang="en-US"/>
              <a:t>At present the product is at prototype stage and we need to build it as a real time usable product.</a:t>
            </a:r>
            <a:endParaRPr lang="en-IN" altLang="en-US"/>
          </a:p>
        </p:txBody>
      </p:sp>
    </p:spTree>
  </p:cSld>
  <p:clrMapOvr>
    <a:masterClrMapping/>
  </p:clrMapOvr>
</p:sld>
</file>

<file path=ppt/theme/theme1.xml><?xml version="1.0" encoding="utf-8"?>
<a:theme xmlns:a="http://schemas.openxmlformats.org/drawingml/2006/main" name="Diseño predeterminado">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5790</Words>
  <Application>WPS Presentation</Application>
  <PresentationFormat>Presentación en pantalla</PresentationFormat>
  <Paragraphs>180</Paragraphs>
  <Slides>30</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30</vt:i4>
      </vt:variant>
    </vt:vector>
  </HeadingPairs>
  <TitlesOfParts>
    <vt:vector size="38" baseType="lpstr">
      <vt:lpstr>Arial</vt:lpstr>
      <vt:lpstr>SimSun</vt:lpstr>
      <vt:lpstr>Wingdings</vt:lpstr>
      <vt:lpstr>Wingdings</vt:lpstr>
      <vt:lpstr>Microsoft YaHei</vt:lpstr>
      <vt:lpstr>Arial Unicode MS</vt:lpstr>
      <vt:lpstr>Calibri</vt:lpstr>
      <vt:lpstr>Diseño predeterminado</vt:lpstr>
      <vt:lpstr>   </vt:lpstr>
      <vt:lpstr>Table of Contents</vt:lpstr>
      <vt:lpstr>ABSTRACT</vt:lpstr>
      <vt:lpstr>  </vt:lpstr>
      <vt:lpstr> </vt:lpstr>
      <vt:lpstr>INTRODUCTION</vt:lpstr>
      <vt:lpstr> </vt:lpstr>
      <vt:lpstr> </vt:lpstr>
      <vt:lpstr> </vt:lpstr>
      <vt:lpstr> </vt:lpstr>
      <vt:lpstr> </vt:lpstr>
      <vt:lpstr> </vt:lpstr>
      <vt:lpstr> </vt:lpstr>
      <vt:lpstr>Methodology</vt:lpstr>
      <vt:lpstr> </vt:lpstr>
      <vt:lpstr> </vt:lpstr>
      <vt:lpstr>  </vt:lpstr>
      <vt:lpstr> </vt:lpstr>
      <vt:lpstr> </vt:lpstr>
      <vt:lpstr> </vt:lpstr>
      <vt:lpstr> </vt:lpstr>
      <vt:lpstr> </vt:lpstr>
      <vt:lpstr> </vt:lpstr>
      <vt:lpstr>Circuit Diagram</vt:lpstr>
      <vt:lpstr> </vt:lpstr>
      <vt:lpstr>WORKING OF WEBSITE</vt:lpstr>
      <vt:lpstr> </vt:lpstr>
      <vt:lpstr>Misconceptions</vt:lpstr>
      <vt:lpstr> </vt:lpstr>
      <vt:lpstr>LIMITATIONS</vt:lpstr>
    </vt:vector>
  </TitlesOfParts>
  <Company>Toshiba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Mariajose</dc:creator>
  <cp:lastModifiedBy>NITHIN</cp:lastModifiedBy>
  <cp:revision>696</cp:revision>
  <dcterms:created xsi:type="dcterms:W3CDTF">2010-05-23T14:28:00Z</dcterms:created>
  <dcterms:modified xsi:type="dcterms:W3CDTF">2023-05-04T06:48:00Z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1CBDD333BA214A0F8EEBA0A64FA2D06B</vt:lpwstr>
  </property>
  <property fmtid="{D5CDD505-2E9C-101B-9397-08002B2CF9AE}" pid="3" name="KSOProductBuildVer">
    <vt:lpwstr>1033-11.2.0.11537</vt:lpwstr>
  </property>
</Properties>
</file>